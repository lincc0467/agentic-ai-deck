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60350"/>
            <a:ext cx="107776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42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 AI 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1423" y="660350"/>
            <a:ext cx="10777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98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內部技術分享 / 20 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12750" y="9906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905000"/>
            <a:ext cx="10363099" cy="9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6"/>
              </a:lnSpc>
              <a:buNone/>
            </a:pPr>
            <a:r>
              <a:rPr lang="en-US" sz="6600" b="1" spc="66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12750" y="2877294"/>
            <a:ext cx="10363099" cy="9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6"/>
              </a:lnSpc>
              <a:buNone/>
            </a:pPr>
            <a:r>
              <a:rPr lang="en-US" sz="6600" b="1" spc="66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系統設計與應用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12750" y="4038600"/>
            <a:ext cx="8031379" cy="385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0"/>
              </a:lnSpc>
              <a:buNone/>
            </a:pPr>
            <a:r>
              <a:rPr lang="en-US" sz="19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從單次推理的傳統 AI，到會規劃、會執行、會自我修正的自主決策系統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2750" y="5664101"/>
            <a:ext cx="17779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90800" y="5562600"/>
            <a:ext cx="17779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68701" y="5435501"/>
            <a:ext cx="17779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46750" y="5334000"/>
            <a:ext cx="17779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24800" y="5892701"/>
            <a:ext cx="1269950" cy="25301"/>
          </a:xfrm>
          <a:prstGeom prst="rect">
            <a:avLst/>
          </a:prstGeom>
          <a:solidFill>
            <a:srgbClr val="8E929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94750" y="5029200"/>
            <a:ext cx="2184350" cy="25301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78001" y="5562600"/>
            <a:ext cx="25301" cy="1269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6050" y="5435501"/>
            <a:ext cx="25301" cy="15240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34100" y="5334000"/>
            <a:ext cx="25301" cy="1269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12001" y="5334000"/>
            <a:ext cx="25301" cy="5841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82100" y="5029200"/>
            <a:ext cx="25301" cy="8889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18550" y="4953000"/>
            <a:ext cx="165050" cy="1650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61250" y="5829300"/>
            <a:ext cx="139601" cy="139601"/>
          </a:xfrm>
          <a:prstGeom prst="rect">
            <a:avLst/>
          </a:prstGeom>
          <a:solidFill>
            <a:srgbClr val="8E929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2750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90800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場景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68701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架構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6750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五步方法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24800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未達標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94750" y="6121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翻盤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概念與差異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10540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什麼是智能體 AI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具有自主決策、規劃與執行能力的智慧系統。四大特徵不是四個並列的形容詞，是同一個迴圈上的四個位置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4891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D:/pyprojects/design/agentic-ai-deck/decks/A/assets/diagrams/agent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01" y="2781300"/>
            <a:ext cx="10312301" cy="28650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750" y="5486400"/>
            <a:ext cx="10566350" cy="126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2750" y="5689550"/>
            <a:ext cx="10566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現實例子：程式碼生成 AI · 資料分析助手 · 決策支援系統 · 自動化客服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3716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概念與差異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15747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 AI 與智能體 AI 的差異</a:t>
            </a:r>
            <a:endParaRPr lang="en-US" sz="3200" dirty="0"/>
          </a:p>
        </p:txBody>
      </p:sp>
      <p:pic>
        <p:nvPicPr>
          <p:cNvPr id="7" name="Image 0" descr="D:/pyprojects/design/agentic-ai-deck/decks/A/assets/diagrams/pipe-one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50" y="1879550"/>
            <a:ext cx="4825901" cy="949821"/>
          </a:xfrm>
          <a:prstGeom prst="rect">
            <a:avLst/>
          </a:prstGeom>
        </p:spPr>
      </p:pic>
      <p:pic>
        <p:nvPicPr>
          <p:cNvPr id="8" name="Image 1" descr="D:/pyprojects/design/agentic-ai-deck/decks/A/assets/diagrams/pipe-iter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01" y="1879550"/>
            <a:ext cx="4825901" cy="9498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2750" y="3022550"/>
            <a:ext cx="5029200" cy="3810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12750" y="3200400"/>
            <a:ext cx="51297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 AI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12750" y="370835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單次推理（One-shot）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12750" y="403860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12750" y="415290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被動回應使用者輸入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12750" y="4483001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12750" y="4597301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固定的處理流程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12750" y="492755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12750" y="504185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 → 模型 → 輸出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12750" y="537210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12750" y="548640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有限的上下文理解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12750" y="5816501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812750" y="5930801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幻覺問題嚴重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12750" y="626105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349901" y="3022550"/>
            <a:ext cx="50292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349901" y="3200400"/>
            <a:ext cx="51297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50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349901" y="370835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迭代式推理（Iterative）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349901" y="403860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349901" y="415290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主動規劃與執行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349901" y="4483001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349901" y="4597301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靈活的自適應流程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349901" y="492755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349901" y="504185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多步驟任務分解與執行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349901" y="537210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349901" y="5486400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持續學習與改進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6349901" y="5816501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349901" y="5930801"/>
            <a:ext cx="5129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透過驗證降低幻覺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6349901" y="6261050"/>
            <a:ext cx="50292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19176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概念與差異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21081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 的核心優勢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前兩項優勢本身就是兩種形狀：一個扇出再收攏，一個繞回來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4891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61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複雜任務處理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任務分解 → 各個擊破 → 最後整合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8400" y="26161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自我修正能力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偵測錯誤 → 自動修正 → 逐步改進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750" y="30987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2257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可解釋性更高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思維鏈展示每一步推理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48400" y="32257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即時適應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依環境回饋動態調整策略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2750" y="38862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D:/pyprojects/design/agentic-ai-deck/decks/A/assets/diagrams/advantage-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001" y="4038600"/>
            <a:ext cx="9323040" cy="215890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4765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概念與差異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26289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 能解決的問題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八類任務，這是前五類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4256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4155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74750" y="2616101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複雜資訊抽取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60950" y="264155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從海量文件中提取結構化知識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750" y="31368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2750" y="335280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74750" y="33273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知識庫建構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0950" y="335280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自動蒐集、整理、驗證專家知識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50" y="38607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407670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74750" y="40512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程式碼分析與生成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0950" y="407670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理解程式碼、產出最佳化建議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750" y="45720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2750" y="4787801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74750" y="476250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自動化工作流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60950" y="4787801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多步驟業務流程自動化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750" y="52959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750" y="5511701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74750" y="548640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即時決策系統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0950" y="5511701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在不確定的環境中做出最佳決策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225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概念與差異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31495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 能解決的問題（續）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1208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33675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74750" y="2311301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專家系統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60950" y="233675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將領域專家知識轉化為可執行系統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750" y="30987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31470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74750" y="32892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多模態分析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0950" y="331470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結合文字、影像、音訊等多種資訊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750" y="40893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2750" y="430530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74750" y="42798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科研加速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60950" y="4305300"/>
            <a:ext cx="603651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自動文獻綜述、資料分析、假設驗證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750" y="5486400"/>
            <a:ext cx="10566350" cy="126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5689550"/>
            <a:ext cx="105663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共同特點</a:t>
            </a:r>
            <a:endParaRPr lang="en-US" sz="1000" dirty="0"/>
          </a:p>
          <a:p>
            <a:pPr algn="l" indent="0" marL="0">
              <a:buNone/>
            </a:pPr>
            <a:r>
              <a:rPr lang="en-US" sz="1500" spc="200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從「處理單個問題」到「解決完整任務」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814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36829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 的核心架構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不是一條直線，是一個會回頭的閉環</a:t>
            </a:r>
            <a:endParaRPr lang="en-US" sz="1500" dirty="0"/>
          </a:p>
        </p:txBody>
      </p:sp>
      <p:pic>
        <p:nvPicPr>
          <p:cNvPr id="8" name="Image 0" descr="D:/pyprojects/design/agentic-ai-deck/decks/A/assets/diagrams/arch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641550"/>
            <a:ext cx="9144000" cy="2481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750" y="51816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750" y="5384750"/>
            <a:ext cx="5079950" cy="54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閉環系統</a:t>
            </a:r>
            <a:endParaRPr lang="en-US" sz="1000" dirty="0"/>
          </a:p>
          <a:p>
            <a:pPr algn="l" indent="0" marL="0">
              <a:buNone/>
            </a:pPr>
            <a:r>
              <a:rPr lang="en-US" sz="14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 → 監控 → 驗證 → 調整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46750" y="5384750"/>
            <a:ext cx="5079950" cy="54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多工具整合</a:t>
            </a:r>
            <a:endParaRPr lang="en-US" sz="1000" dirty="0"/>
          </a:p>
          <a:p>
            <a:pPr algn="l" indent="0" marL="0">
              <a:buNone/>
            </a:pPr>
            <a:r>
              <a:rPr lang="en-US" sz="14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資料查詢、程式碼執行、API 呼叫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274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42036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設計智能體 AI 的五個關鍵步驟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接下來五頁，每一步展開講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3174950"/>
            <a:ext cx="1981200" cy="507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3403550"/>
            <a:ext cx="1981200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定義目標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與範圍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46350" y="3174950"/>
            <a:ext cx="1981200" cy="507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46350" y="3403550"/>
            <a:ext cx="1981200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任務分解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與策略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79950" y="3174950"/>
            <a:ext cx="1981200" cy="507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9950" y="3403550"/>
            <a:ext cx="1981200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建構推理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引擎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13550" y="3174950"/>
            <a:ext cx="1981200" cy="507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13550" y="3403550"/>
            <a:ext cx="1981200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整合工具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 API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47150" y="3174950"/>
            <a:ext cx="1981200" cy="5075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47150" y="3403550"/>
            <a:ext cx="1981200" cy="109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驗證與</a:t>
            </a:r>
            <a:endParaRPr lang="en-US" sz="2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回饋循環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2750" y="5079950"/>
            <a:ext cx="25301" cy="2793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53800" y="5079950"/>
            <a:ext cx="25301" cy="2793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5334000"/>
            <a:ext cx="36067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72400" y="5334000"/>
            <a:ext cx="36067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37839" y="5232350"/>
            <a:ext cx="3316173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00" spc="14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驗證回饋至目標定義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863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　/　STEP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47370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定義目標與範圍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1843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3113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清晰定義 Agent 的目標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要解決什麼問題？成功標準是什麼？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48400" y="23113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劃定責任邊界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能做什麼，哪些場景必須人工介入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750" y="2793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29209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辨識關鍵資料來源與工具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需要哪些資料？要接哪些外部工具或 API？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48400" y="29209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評估可行性與風險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技術可行性 · 成本預估 · 失敗風險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750" y="35814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D:/pyprojects/design/agentic-ai-deck/decks/A/assets/diagrams/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050" y="3733800"/>
            <a:ext cx="9580811" cy="246370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450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　/　STEP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52578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任務分解與策略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1970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311301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將複雜任務拆成子任務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8950" y="233675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辨識任務相依關係，平行化彼此獨立的部分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26289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274320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設計任務執行策略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8950" y="2768501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三種基本形狀，可組合套用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750" y="30606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17495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定義失敗復原機制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8950" y="320040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重試邏輯 · 備選方案 · 人工審批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0" y="36576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D:/pyprojects/design/agentic-ai-deck/decks/A/assets/diagrams/strateg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01" y="4203650"/>
            <a:ext cx="10312301" cy="160139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912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　/　STEP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57784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建構推理引擎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1970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311301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選擇合適的 LLM 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8950" y="233675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在成本、延遲、能力匹配之間取捨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26289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274320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 Prompt 與 Context 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8950" y="2768501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 是疊起來的，不是並列的三件事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750" y="30606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17495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實作思維鏈（Chain of Thought）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8950" y="320040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 Agent 顯式推理每一步，提高可解釋性與準確性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0" y="36576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D:/pyprojects/design/agentic-ai-deck/decks/A/assets/diagrams/context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810000"/>
            <a:ext cx="8985200" cy="238750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499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　/　STEP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63118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整合工具與 API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典型工具組合：GitHub 程式碼讀取 · PDF 文件解析 · 論文搜尋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5018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6101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 Agent 可用的工具集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264155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資料查詢 · 資料處理 · 外部 API · 驗證工具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50" y="29337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04800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實作工具呼叫介面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8950" y="3073301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Function calling · 錯誤處理 · 結果解析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50" y="33654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47975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加入執行權限控制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8950" y="350520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敏感操作需人工確認 · 操作日誌稽核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50" y="39624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D:/pyprojects/design/agentic-ai-deck/decks/A/assets/diagrams/tool-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450" y="4114800"/>
            <a:ext cx="8520410" cy="208270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9610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架構與方法　/　STEP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68325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驗證與回饋循環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「驗證」不是一個動作，是有順序的三道關卡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5018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6101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實作品質檢查機制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264155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格式驗證 · 完整性檢查 · 事實一致性驗證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50" y="29337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04800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建構回饋循環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8950" y="3073301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偵測錯誤 → 自動修正 → 使用者回饋 → 改進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50" y="33654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47975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效能指標定義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8950" y="3505200"/>
            <a:ext cx="681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準確度、召回率、執行時間、成本效率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50" y="39624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D:/pyprojects/design/agentic-ai-deck/decks/A/assets/diagrams/verify-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450" y="4114800"/>
            <a:ext cx="8520410" cy="208270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4548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案例研究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73659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文獻專家知識蒸餾系統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示意案例 · 數字為說明用途，非實際發布數據</a:t>
            </a:r>
            <a:endParaRPr lang="en-US" sz="1500" dirty="0"/>
          </a:p>
        </p:txBody>
      </p:sp>
      <p:pic>
        <p:nvPicPr>
          <p:cNvPr id="8" name="Image 0" descr="D:/pyprojects/design/agentic-ai-deck/decks/A/assets/diagrams/agent-fan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01" y="2133600"/>
            <a:ext cx="8635901" cy="2590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750" y="4978301"/>
            <a:ext cx="5079950" cy="126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750" y="5156150"/>
            <a:ext cx="5079950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專案背景</a:t>
            </a:r>
            <a:endParaRPr lang="en-US" sz="1000" dirty="0"/>
          </a:p>
          <a:p>
            <a:pPr algn="l" indent="0" marL="0">
              <a:buNone/>
            </a:pPr>
            <a:r>
              <a:rPr lang="en-US" sz="13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目標：從大量研究論文中提取結構化專家知識</a:t>
            </a:r>
            <a:endParaRPr lang="en-US" sz="1000" dirty="0"/>
          </a:p>
          <a:p>
            <a:pPr algn="l" indent="0" marL="0">
              <a:buNone/>
            </a:pPr>
            <a:r>
              <a:rPr lang="en-US" sz="13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挑戰：資訊分散、格式不統一、需要深度理解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99150" y="4978301"/>
            <a:ext cx="5079950" cy="12650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99150" y="5156150"/>
            <a:ext cx="5079950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任務分解</a:t>
            </a:r>
            <a:endParaRPr lang="en-US" sz="1000" dirty="0"/>
          </a:p>
          <a:p>
            <a:pPr algn="l" indent="0" marL="0">
              <a:buNone/>
            </a:pPr>
            <a:r>
              <a:rPr lang="en-US" sz="13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1　小樣本設計與驗證</a:t>
            </a:r>
            <a:endParaRPr lang="en-US" sz="1000" dirty="0"/>
          </a:p>
          <a:p>
            <a:pPr algn="l" indent="0" marL="0">
              <a:buNone/>
            </a:pPr>
            <a:r>
              <a:rPr lang="en-US" sz="1300" spc="200" kern="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2　全量蒸餾，分批執行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136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案例研究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78867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Round 1 未達標，Round 2 翻盤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905000"/>
            <a:ext cx="829050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示意案例 · 數字為說明用途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750" y="2489150"/>
            <a:ext cx="5029200" cy="38100"/>
          </a:xfrm>
          <a:prstGeom prst="rect">
            <a:avLst/>
          </a:prstGeom>
          <a:solidFill>
            <a:srgbClr val="8E929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67000"/>
            <a:ext cx="5129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Round 1　驗證未達標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750" y="3022550"/>
            <a:ext cx="5029200" cy="122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8E929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</a:t>
            </a:r>
            <a:pPr algn="l" indent="0" marL="0">
              <a:lnSpc>
                <a:spcPts val="7000"/>
              </a:lnSpc>
              <a:buNone/>
            </a:pPr>
            <a:r>
              <a:rPr lang="en-US" sz="2200" b="1" dirty="0">
                <a:solidFill>
                  <a:srgbClr val="8E929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%</a:t>
            </a:r>
            <a:endParaRPr lang="en-US" sz="7000" dirty="0"/>
          </a:p>
          <a:p>
            <a:pPr algn="l" indent="0" marL="0">
              <a:lnSpc>
                <a:spcPts val="70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低於 80% 目標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12750" y="4724400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關鍵結構欄位缺失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750" y="5156150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參數擷取不完整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750" y="5587901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缺少 GitHub 程式碼讀取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9901" y="2489150"/>
            <a:ext cx="50292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901" y="2667000"/>
            <a:ext cx="5129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50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Round 2　戰略改進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49901" y="3022550"/>
            <a:ext cx="5029200" cy="122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D450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</a:t>
            </a:r>
            <a:pPr algn="l" indent="0" marL="0">
              <a:lnSpc>
                <a:spcPts val="7000"/>
              </a:lnSpc>
              <a:buNone/>
            </a:pPr>
            <a:r>
              <a:rPr lang="en-US" sz="2200" b="1" dirty="0">
                <a:solidFill>
                  <a:srgbClr val="D450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%</a:t>
            </a:r>
            <a:endParaRPr lang="en-US" sz="7000" dirty="0"/>
          </a:p>
          <a:p>
            <a:pPr algn="l" indent="0" marL="0">
              <a:lnSpc>
                <a:spcPts val="70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 80% 目標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6349901" y="4724400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強化 Agent 指令：必須讀 GitHub 程式碼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9901" y="5156150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增加透明度：標註信心度（高 / 中 / 低）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9901" y="5587901"/>
            <a:ext cx="5129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主動搜尋：Appendix · OpenReview · GitHub Issues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68901" y="3174950"/>
            <a:ext cx="253901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2750" y="60198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2750" y="6172200"/>
            <a:ext cx="51815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改進來源</a:t>
            </a:r>
            <a:endParaRPr lang="en-US" sz="1000" dirty="0"/>
          </a:p>
        </p:txBody>
      </p:sp>
      <p:pic>
        <p:nvPicPr>
          <p:cNvPr id="23" name="Image 0" descr="D:/pyprojects/design/agentic-ai-deck/decks/A/assets/github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9901" y="6172200"/>
            <a:ext cx="203150" cy="2031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54701" y="6197501"/>
            <a:ext cx="1243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GitHub</a:t>
            </a:r>
            <a:endParaRPr lang="en-US" sz="1100" dirty="0"/>
          </a:p>
        </p:txBody>
      </p:sp>
      <p:pic>
        <p:nvPicPr>
          <p:cNvPr id="25" name="Image 1" descr="D:/pyprojects/design/agentic-ai-deck/decks/A/assets/open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901" y="6172200"/>
            <a:ext cx="203150" cy="2031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78701" y="6197501"/>
            <a:ext cx="1243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OpenReview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案例研究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84073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219200"/>
            <a:ext cx="7772400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最終成果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54101"/>
            <a:ext cx="72541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示意案例 · 下列數字為說明用途，非實際發布數據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692301"/>
            <a:ext cx="2412950" cy="25301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870150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+ 篇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論文全量處理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30501" y="2692301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0501" y="2870150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500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+ 個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輸出檔案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48400" y="2692301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2870150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+ 種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架構模式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966150" y="2692301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966150" y="2870150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+ 項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識別技巧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12750" y="4419600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4597301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85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%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驗證通過率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3530501" y="4419600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30501" y="4597301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個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平行 Agent 數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248400" y="4419600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8400" y="4597301"/>
            <a:ext cx="2412950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pPr algn="l" indent="0" marL="0">
              <a:lnSpc>
                <a:spcPts val="4600"/>
              </a:lnSpc>
              <a:buNone/>
            </a:pPr>
            <a:r>
              <a:rPr lang="en-US" sz="1300" b="1" dirty="0">
                <a:solidFill>
                  <a:srgbClr val="6E727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工作日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全量處理時間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966150" y="4419600"/>
            <a:ext cx="2412950" cy="25301"/>
          </a:xfrm>
          <a:prstGeom prst="rect">
            <a:avLst/>
          </a:prstGeom>
          <a:solidFill>
            <a:srgbClr val="BFC3B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966150" y="4597301"/>
            <a:ext cx="2412950" cy="848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可複用</a:t>
            </a:r>
            <a:endParaRPr lang="en-US" sz="36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沉澱為知識模式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185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洞見與局限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8940701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關鍵洞見與最佳實踐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最貴的一課：策略沒驗證就全量執行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5018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41550"/>
            <a:ext cx="6735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13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4750" y="2616101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迭代驗證很重要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0950" y="2641550"/>
            <a:ext cx="6036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先用小樣本驗證策略，再全量執行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29337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2750" y="3073301"/>
            <a:ext cx="6735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13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4750" y="304800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指令需精心設計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60950" y="3073301"/>
            <a:ext cx="6036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優先級明確（必須 vs 可選）· 透明度追蹤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0" y="33654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3505200"/>
            <a:ext cx="6735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13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4750" y="3479750"/>
            <a:ext cx="3704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平行執行效率高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0950" y="3505200"/>
            <a:ext cx="6036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四個 Agent 平行處理，整批任務數小時內完成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50" y="39624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D:/pyprojects/design/agentic-ai-deck/decks/A/assets/diagrams/pilot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050" y="4114800"/>
            <a:ext cx="8061871" cy="208270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6646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洞見與局限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94614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局限與挑戰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1803350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四項代價，設計前就該算進去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50" y="24891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61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成本　Cost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API 呼叫成本高，多步驟推理會放大成本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8400" y="26161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延遲　Latency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迭代式推理需多次呼叫，回應變慢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750" y="30987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2257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可靠性　Reliability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LLM 仍有幻覺問題，需要強驗證機制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48400" y="3225701"/>
            <a:ext cx="513070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可解釋性　Explainability</a:t>
            </a:r>
            <a:endParaRPr lang="en-US" sz="135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黑盒決策，難以理解 Agent 為何這樣選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2750" y="38862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D:/pyprojects/design/agentic-ai-deck/decks/A/assets/diagrams/cost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901" y="4038600"/>
            <a:ext cx="7124700" cy="215890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223450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洞見與局限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99948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未來方向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1208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311301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 Agent 協作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98950" y="2336750"/>
            <a:ext cx="681375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多個 Agent 共同解決複雜問題、協商與協調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750" y="30987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32892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長期記憶與學習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8950" y="3314700"/>
            <a:ext cx="681375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從過往經驗中學習、持續改進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750" y="4063901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4254401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自適應工具生成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8950" y="4279850"/>
            <a:ext cx="681375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Agent 自動建立新工具，而非僅呼叫現有工具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50" y="50418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5232350"/>
            <a:ext cx="37047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可信與可解釋的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8950" y="5257800"/>
            <a:ext cx="6813753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提高決策透明度與可追蹤性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7695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584150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洞見與局限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1423" y="584150"/>
            <a:ext cx="10777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88895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876300"/>
            <a:ext cx="1051560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93750"/>
            <a:ext cx="9844989" cy="503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8"/>
              </a:lnSpc>
              <a:buNone/>
            </a:pPr>
            <a:r>
              <a:rPr lang="en-US" sz="3200" b="1" spc="32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總結與行動計畫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750" y="2489150"/>
            <a:ext cx="10566350" cy="381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717750"/>
            <a:ext cx="10566350" cy="81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核心要點</a:t>
            </a:r>
            <a:endParaRPr lang="en-US" sz="1000" dirty="0"/>
          </a:p>
          <a:p>
            <a:pPr algn="l" indent="0" marL="0">
              <a:buNone/>
            </a:pPr>
            <a:r>
              <a:rPr lang="en-US" sz="2800" b="1" spc="200" kern="0" dirty="0">
                <a:solidFill>
                  <a:srgbClr val="14161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智能體 AI　=　自主規劃　+　迭代執行　+　品質驗證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2750" y="4191000"/>
            <a:ext cx="1056635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4368701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7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下一步行動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750" y="469895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73101" y="4673501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確定要用智能體 AI 解決的具體問題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750" y="5130701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73101" y="5105400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設計並驗證 Agent 架構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50" y="556260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73101" y="5537150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小規模驗證（10-20 個樣本）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750" y="599435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D450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73101" y="5968901"/>
            <a:ext cx="10104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53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全量部署與監控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750" y="6400800"/>
            <a:ext cx="10515600" cy="12650"/>
          </a:xfrm>
          <a:prstGeom prst="rect">
            <a:avLst/>
          </a:prstGeom>
          <a:solidFill>
            <a:srgbClr val="DCDE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302901" y="6349901"/>
            <a:ext cx="114300" cy="114300"/>
          </a:xfrm>
          <a:prstGeom prst="rect">
            <a:avLst/>
          </a:prstGeom>
          <a:solidFill>
            <a:srgbClr val="D450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2026-08-07T03:07:49Z</dcterms:created>
  <dcterms:modified xsi:type="dcterms:W3CDTF">2026-08-07T03:07:49Z</dcterms:modified>
</cp:coreProperties>
</file>